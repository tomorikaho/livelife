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大家好，我们汇报的项目叫 Livelife。它关注的不是再做一个信息平台，而是让校园里的信息，在需要的时候出现在需要的人身边。</a:t>
            </a:r>
          </a:p>
          <a:p>
            <a:endParaRPr/>
          </a:p>
          <a:p>
            <a:r>
              <a:t>资料：仓库 README.md、docs/architecture.md；封面图为本次原创生成的概念视觉。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场景并不罕见。下课时我们会好奇隔壁教室在做什么；有空时又不知道附近有哪些活动；看到树洞里的推荐，走到附近却还要重新翻帖子。问题不是没有信息，而是每次都要自己完成搜索、筛选、判断位置和安排时间。</a:t>
            </a:r>
          </a:p>
          <a:p>
            <a:endParaRPr/>
          </a:p>
          <a:p>
            <a:r>
              <a:t>资料：汇报者提供的场景设想；此页不使用未经授权的树洞截图。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我们把这些问题归成三条信息轴。地点决定附近有什么，时间决定现在与空闲时段能做什么，个人需求决定哪些信息应该优先出现。后面的功能设计都围绕这三条线展开。</a:t>
            </a:r>
          </a:p>
          <a:p>
            <a:endParaRPr/>
          </a:p>
          <a:p>
            <a:r>
              <a:t>资料：需求说明书：产品范围与功能需求；docs/architecture.md：产品范围与后续目标架构。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接下来直接演示网页原型：从引导页进入校园地图，切换二维和三维，选择建筑进入活动详情，再查看日历、Agent、个人页和接口连通性测试。除 hello 请求外，活动、账户、定位和 Agent 内容均是样例数据。</a:t>
            </a:r>
          </a:p>
          <a:p>
            <a:endParaRPr/>
          </a:p>
          <a:p>
            <a:r>
              <a:t>资料：frontend/ 现有实现、README.md、docs/architecture.md。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需求说明书把功能需求拆为七项：地图与地点、活动推荐、日历与日程、兴趣订阅、校园 Agent、账户偏好和系统通知。此页只列出每项能力的核心入口，详细行为与验收要点以需求说明书中的 FR-01 至 FR-07 为准。</a:t>
            </a:r>
          </a:p>
          <a:p>
            <a:endParaRPr/>
          </a:p>
          <a:p>
            <a:r>
              <a:t>资料：《Livelife 软件需求说明书 最终产品版》：功能需求表 FR-01 至 FR-07。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需求说明书定义了十二类非功能性需求。重点包括信息的正确性与清晰性，故障下的健壮性与可靠性，至少 5,000 名并发活跃学生用户的性能目标，以及安全、扩展、兼容、可维护和可验证等工程要求。</a:t>
            </a:r>
          </a:p>
          <a:p>
            <a:endParaRPr/>
          </a:p>
          <a:p>
            <a:r>
              <a:t>资料：《Livelife 软件需求说明书 最终产品版》：非功能性需求表。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前端就是用户看到和操作的这一层。Vue 3 负责组织页面并响应用户操作。TypeScript 给数据加上检查，能尽早发现前端与接口对字段理解不一致的问题。Vite 用来启动本地网页和构建发布文件，Vue Router 管理页面跳转。地图保留 Canvas 2D 和 Three.js 3D 两条路线。以后如做原生 App，会用 Capacitor 复用前端，但原生工程目前尚未创建。</a:t>
            </a:r>
          </a:p>
          <a:p>
            <a:endParaRPr/>
          </a:p>
          <a:p>
            <a:r>
              <a:t>资料：docs/engineering.md：技术栈与实施阶段、原型迁移与目录职责。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后端负责把页面背后的信息做成服务。现在先从 FastAPI 的 hello 接口开始，验证浏览器能否真正访问后端。Pydantic 用来约束接口数据格式。后续 PostgreSQL 保存持久数据，SQLAlchemy 让 Python 更方便地读写它，Alembic 记录表结构变化。信息采集、去重、推荐和提醒则放进独立 Worker，在后台运行，避免让用户点一下页面就一直等待。</a:t>
            </a:r>
          </a:p>
          <a:p>
            <a:endParaRPr/>
          </a:p>
          <a:p>
            <a:r>
              <a:t>资料：docs/engineering.md、docs/architecture.md：技术路线、后续目标架构与模块边界。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我们的协作围绕 GitHub 的 Issue 和 PR 展开。现场先看贡献指南、工程规范、协作流程和 AI 开发指南，再看 Project 的状态、负责人、优先级和 Milestone，最后看任务拆分与 Actions。强调：构建请求成功只代表请求发出，真实检查和部署要看对应状态和环境记录。</a:t>
            </a:r>
          </a:p>
          <a:p>
            <a:endParaRPr/>
          </a:p>
          <a:p>
            <a:r>
              <a:t>资料：CONTRIBUTING.md、docs/workflow.md、docs/ai-development.md、docs/deployment.md、.github/workflows/。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Livelife 还在从原型走向真实服务的过程中，但方向很明确：让地点、时间和个人需求重新连起来，让校园信息不再等人翻找。谢谢大家。</a:t>
            </a:r>
          </a:p>
          <a:p>
            <a:endParaRPr/>
          </a:p>
          <a:p>
            <a:r>
              <a:t>资料：仓库 README.md、docs/architecture.md；封面图为本次原创生成的概念视觉。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CBF2983-E119-470E-B5AD-4C1BA1CCBB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78000"/>
            </a:srgbClr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A905EF-638F-4B94-B8B6-41ED60F164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18000"/>
            </a:srgbClr>
          </a:solidFill>
          <a:ln w="0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281C83-9753-466D-A3D3-26ACB2993593}"/>
              </a:ext>
            </a:extLst>
          </p:cNvPr>
          <p:cNvSpPr>
            <a:spLocks noGrp="1"/>
          </p:cNvSpPr>
          <p:nvPr/>
        </p:nvSpPr>
        <p:spPr>
          <a:xfrm>
            <a:off x="594928" y="2466975"/>
            <a:ext cx="6572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85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5850" b="1" i="0" dirty="0" err="1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Livelife</a:t>
            </a:r>
            <a:endParaRPr sz="5850" b="1" i="0" dirty="0">
              <a:solidFill>
                <a:srgbClr val="FFF8E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0799AB-D51E-4803-92C7-1D91039AB7B1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102870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865BF1-ACF0-4637-9E7E-25A98372522A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3619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D6C9B2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6C9B2"/>
                </a:solidFill>
                <a:latin typeface="Consolas"/>
                <a:ea typeface="Consolas"/>
                <a:cs typeface="Consolas"/>
              </a:rPr>
              <a:t>8 MINUTES / PRODUCT DEMO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4CF5AA-CECE-44B3-86C3-A43F2A8AF6FD}"/>
              </a:ext>
            </a:extLst>
          </p:cNvPr>
          <p:cNvSpPr txBox="1"/>
          <p:nvPr/>
        </p:nvSpPr>
        <p:spPr>
          <a:xfrm>
            <a:off x="594928" y="3703036"/>
            <a:ext cx="7701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张嘉宇 袁林泽 封帆 黄珂凡 杨瑜 薛海若 梁宝烨</a:t>
            </a:r>
          </a:p>
        </p:txBody>
      </p:sp>
    </p:spTree>
    <p:extLst>
      <p:ext uri="{BB962C8B-B14F-4D97-AF65-F5344CB8AC3E}">
        <p14:creationId xmlns:p14="http://schemas.microsoft.com/office/powerpoint/2010/main" val="156415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A9849F-3A0E-43DB-B911-F0719C2B7C18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rPr>
              <a:t>02 / 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34BBA7-25D4-4C37-8C17-DB18CE76BCF3}"/>
              </a:ext>
            </a:extLst>
          </p:cNvPr>
          <p:cNvSpPr>
            <a:spLocks noGrp="1"/>
          </p:cNvSpPr>
          <p:nvPr/>
        </p:nvSpPr>
        <p:spPr>
          <a:xfrm>
            <a:off x="723899" y="1879094"/>
            <a:ext cx="847689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 dirty="0" err="1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信息分散在消息流、群聊、通知与地图里。每次行动前，学生都要重新搜索、判断和筛选</a:t>
            </a:r>
            <a:r>
              <a:rPr sz="1575" b="0" i="0" dirty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9206FE-9817-4FB9-ADF1-DD5FBA05C52A}"/>
              </a:ext>
            </a:extLst>
          </p:cNvPr>
          <p:cNvSpPr>
            <a:spLocks noGrp="1"/>
          </p:cNvSpPr>
          <p:nvPr/>
        </p:nvSpPr>
        <p:spPr>
          <a:xfrm>
            <a:off x="809096" y="2203410"/>
            <a:ext cx="7381875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F582ACE-8276-4BF2-8884-E68B82EA3D7C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B8F57E-5586-48B9-B1D0-6C835DC1CF61}"/>
              </a:ext>
            </a:extLst>
          </p:cNvPr>
          <p:cNvSpPr>
            <a:spLocks noGrp="1"/>
          </p:cNvSpPr>
          <p:nvPr/>
        </p:nvSpPr>
        <p:spPr>
          <a:xfrm>
            <a:off x="800100" y="2524125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266713-03B4-4F75-AAD4-9D7B233F29AA}"/>
              </a:ext>
            </a:extLst>
          </p:cNvPr>
          <p:cNvSpPr>
            <a:spLocks noGrp="1"/>
          </p:cNvSpPr>
          <p:nvPr/>
        </p:nvSpPr>
        <p:spPr>
          <a:xfrm>
            <a:off x="1162050" y="2466975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隔壁教室为什么突然排起队？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557FEB8-12FA-4134-BBA6-507182795429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22326C-E631-40EC-8EC1-FF79BCC7741B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65B173-4DCF-462E-A4FF-C07F35E4E785}"/>
              </a:ext>
            </a:extLst>
          </p:cNvPr>
          <p:cNvSpPr>
            <a:spLocks noGrp="1"/>
          </p:cNvSpPr>
          <p:nvPr/>
        </p:nvSpPr>
        <p:spPr>
          <a:xfrm>
            <a:off x="1162050" y="2990850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明天有空</a:t>
            </a:r>
            <a:r>
              <a:rPr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lang="zh-CN" altLang="en-US" sz="1425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可以参加哪些活动？</a:t>
            </a:r>
            <a:endParaRPr sz="1425" b="0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688ED98-2134-4F26-9C2D-4583BE1AB774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9812D6-8CB9-4850-B2CE-69173384D5E0}"/>
              </a:ext>
            </a:extLst>
          </p:cNvPr>
          <p:cNvSpPr>
            <a:spLocks noGrp="1"/>
          </p:cNvSpPr>
          <p:nvPr/>
        </p:nvSpPr>
        <p:spPr>
          <a:xfrm>
            <a:off x="800100" y="3571875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FC8D9F-0AD9-4F7E-B570-7FBB360F9A96}"/>
              </a:ext>
            </a:extLst>
          </p:cNvPr>
          <p:cNvSpPr>
            <a:spLocks noGrp="1"/>
          </p:cNvSpPr>
          <p:nvPr/>
        </p:nvSpPr>
        <p:spPr>
          <a:xfrm>
            <a:off x="1162050" y="3514725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附近恰好有美景趣事，我能否立刻接受到？</a:t>
            </a:r>
            <a:endParaRPr sz="1425" b="0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F593BB-9620-45D2-8348-298A3434BCCA}"/>
              </a:ext>
            </a:extLst>
          </p:cNvPr>
          <p:cNvSpPr>
            <a:spLocks noGrp="1"/>
          </p:cNvSpPr>
          <p:nvPr/>
        </p:nvSpPr>
        <p:spPr>
          <a:xfrm>
            <a:off x="781050" y="4048125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7EC7BE-0285-4791-98A9-9625396050D5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D72FBB-C821-4599-95B9-E2ADF9CA25DE}"/>
              </a:ext>
            </a:extLst>
          </p:cNvPr>
          <p:cNvSpPr>
            <a:spLocks noGrp="1"/>
          </p:cNvSpPr>
          <p:nvPr/>
        </p:nvSpPr>
        <p:spPr>
          <a:xfrm>
            <a:off x="1162050" y="4038600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如何整合散落在公众号中的各种信息？</a:t>
            </a:r>
            <a:endParaRPr sz="1425" b="0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B2254A8-4FFD-4A6D-9E4A-FE77130EF2EC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B72CAB-F080-4556-AC16-2C246AC0A273}"/>
              </a:ext>
            </a:extLst>
          </p:cNvPr>
          <p:cNvSpPr>
            <a:spLocks noGrp="1"/>
          </p:cNvSpPr>
          <p:nvPr/>
        </p:nvSpPr>
        <p:spPr>
          <a:xfrm>
            <a:off x="800100" y="4619625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A0C61F-B685-4CD8-82B4-EE124BB84766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签到只剩一分钟，教室该往哪边走</a:t>
            </a:r>
            <a:r>
              <a:rPr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？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6BE34C0-63C0-470C-B1F4-50A586D32EC6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209550" cy="209550"/>
          </a:xfrm>
          <a:prstGeom prst="ellipse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90D175-FFF9-4832-BE75-0DC876F3246E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FF8EA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FF8EA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00BBD1-B206-4917-B71D-8147AB122AB6}"/>
              </a:ext>
            </a:extLst>
          </p:cNvPr>
          <p:cNvSpPr>
            <a:spLocks noGrp="1"/>
          </p:cNvSpPr>
          <p:nvPr/>
        </p:nvSpPr>
        <p:spPr>
          <a:xfrm>
            <a:off x="1162050" y="5086350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校园里能不能有一张“活点地图”？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624EEF-C5F0-41DA-809B-31A765767705}"/>
              </a:ext>
            </a:extLst>
          </p:cNvPr>
          <p:cNvSpPr txBox="1"/>
          <p:nvPr/>
        </p:nvSpPr>
        <p:spPr>
          <a:xfrm>
            <a:off x="723900" y="978866"/>
            <a:ext cx="6096946" cy="65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75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lang="zh-CN" altLang="en-US" sz="3675" b="1" dirty="0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需求场景</a:t>
            </a:r>
            <a:endParaRPr kumimoji="0" lang="zh-CN" altLang="en-US" sz="3675" b="1" i="0" u="none" strike="noStrike" kern="1200" cap="none" spc="0" normalizeH="0" baseline="0" noProof="0" dirty="0">
              <a:ln>
                <a:noFill/>
              </a:ln>
              <a:solidFill>
                <a:srgbClr val="142431"/>
              </a:solidFill>
              <a:effectLst/>
              <a:uLnTx/>
              <a:uFillTx/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93DA9D3-40CD-482D-A95C-6B659CBEB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390" y="2300261"/>
            <a:ext cx="7066667" cy="97142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6DE6B0FA-9364-4BA2-A9E6-FBABD8D46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27" y="5454854"/>
            <a:ext cx="10771963" cy="1203053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BAF71C5-417D-4B54-AA34-352415C3E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777" y="3449657"/>
            <a:ext cx="4714531" cy="182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2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1A2CFE-E864-4556-BA61-2EF701D0AE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72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BE3267-14A9-4832-97AA-078358F0B707}"/>
              </a:ext>
            </a:extLst>
          </p:cNvPr>
          <p:cNvSpPr>
            <a:spLocks noGrp="1"/>
          </p:cNvSpPr>
          <p:nvPr/>
        </p:nvSpPr>
        <p:spPr>
          <a:xfrm>
            <a:off x="996990" y="2435442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8000" b="1" i="0" dirty="0" err="1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地点</a:t>
            </a:r>
            <a:endParaRPr sz="8000" b="1" i="0" dirty="0">
              <a:solidFill>
                <a:srgbClr val="FFF8E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EBDA51-C6B5-4AE2-8802-5756E0A5A7B4}"/>
              </a:ext>
            </a:extLst>
          </p:cNvPr>
          <p:cNvSpPr>
            <a:spLocks noGrp="1"/>
          </p:cNvSpPr>
          <p:nvPr/>
        </p:nvSpPr>
        <p:spPr>
          <a:xfrm>
            <a:off x="996990" y="3774859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E5DAC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我在哪里，附近有什么</a:t>
            </a:r>
            <a:endParaRPr sz="1425" b="0" i="0" dirty="0">
              <a:solidFill>
                <a:srgbClr val="E5DAC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C5F5A8-C6C4-49FC-95D9-FB1EB7F8F753}"/>
              </a:ext>
            </a:extLst>
          </p:cNvPr>
          <p:cNvSpPr>
            <a:spLocks noGrp="1"/>
          </p:cNvSpPr>
          <p:nvPr/>
        </p:nvSpPr>
        <p:spPr>
          <a:xfrm>
            <a:off x="4484974" y="2445736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8000" b="1" i="0" dirty="0" err="1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时间</a:t>
            </a:r>
            <a:endParaRPr sz="8000" b="1" i="0" dirty="0">
              <a:solidFill>
                <a:srgbClr val="FFF8E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D20411-EBD4-4A46-B8F1-F091823DEB2D}"/>
              </a:ext>
            </a:extLst>
          </p:cNvPr>
          <p:cNvSpPr>
            <a:spLocks noGrp="1"/>
          </p:cNvSpPr>
          <p:nvPr/>
        </p:nvSpPr>
        <p:spPr>
          <a:xfrm>
            <a:off x="4541768" y="3764565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E5DAC5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dirty="0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此刻</a:t>
            </a:r>
            <a:r>
              <a:rPr sz="1425" b="0" i="0" dirty="0" err="1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能做什么</a:t>
            </a:r>
            <a:endParaRPr sz="1425" b="0" i="0" dirty="0">
              <a:solidFill>
                <a:srgbClr val="E5DAC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F96B2F-719A-470E-ADBE-52349C7CF039}"/>
              </a:ext>
            </a:extLst>
          </p:cNvPr>
          <p:cNvSpPr>
            <a:spLocks noGrp="1"/>
          </p:cNvSpPr>
          <p:nvPr/>
        </p:nvSpPr>
        <p:spPr>
          <a:xfrm>
            <a:off x="7863214" y="2435442"/>
            <a:ext cx="457306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8000" b="1" i="0" dirty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个性化</a:t>
            </a:r>
            <a:endParaRPr sz="8000" b="1" i="0" dirty="0">
              <a:solidFill>
                <a:srgbClr val="FFF8E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A3F5D2-22C9-46A4-8B48-4455A878FE20}"/>
              </a:ext>
            </a:extLst>
          </p:cNvPr>
          <p:cNvSpPr>
            <a:spLocks noGrp="1"/>
          </p:cNvSpPr>
          <p:nvPr/>
        </p:nvSpPr>
        <p:spPr>
          <a:xfrm>
            <a:off x="8086546" y="3764565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E5DAC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哪些信息值得优先出现</a:t>
            </a:r>
            <a:endParaRPr sz="1425" b="0" i="0" dirty="0">
              <a:solidFill>
                <a:srgbClr val="E5DAC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48777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9A04FB-B71C-4BFA-8C26-EB70C120B975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103632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480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初步 Demo 展示</a:t>
            </a:r>
          </a:p>
        </p:txBody>
      </p:sp>
    </p:spTree>
    <p:extLst>
      <p:ext uri="{BB962C8B-B14F-4D97-AF65-F5344CB8AC3E}">
        <p14:creationId xmlns:p14="http://schemas.microsoft.com/office/powerpoint/2010/main" val="172745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DDC2667-67E5-487C-888F-5CC85EC753E6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rPr>
              <a:t>05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F4AE42-00DF-43EA-93A4-F0954574F770}"/>
              </a:ext>
            </a:extLst>
          </p:cNvPr>
          <p:cNvSpPr>
            <a:spLocks noGrp="1"/>
          </p:cNvSpPr>
          <p:nvPr/>
        </p:nvSpPr>
        <p:spPr>
          <a:xfrm>
            <a:off x="685800" y="1296236"/>
            <a:ext cx="6477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75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sz="3675" b="1" i="0" dirty="0" err="1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功能需求</a:t>
            </a:r>
            <a:endParaRPr sz="3675" b="1" i="0" dirty="0">
              <a:solidFill>
                <a:srgbClr val="142431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F53BB9-D715-4526-9DE6-2B6FC7EC90E5}"/>
              </a:ext>
            </a:extLst>
          </p:cNvPr>
          <p:cNvSpPr>
            <a:spLocks noGrp="1"/>
          </p:cNvSpPr>
          <p:nvPr/>
        </p:nvSpPr>
        <p:spPr>
          <a:xfrm>
            <a:off x="792054" y="2048711"/>
            <a:ext cx="10734675" cy="19050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20DEE7-774E-4FB3-88A9-2AE2DD010596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75429E-FE1C-484D-AF3B-96820A1DA623}"/>
              </a:ext>
            </a:extLst>
          </p:cNvPr>
          <p:cNvSpPr>
            <a:spLocks noGrp="1"/>
          </p:cNvSpPr>
          <p:nvPr/>
        </p:nvSpPr>
        <p:spPr>
          <a:xfrm>
            <a:off x="1600200" y="258127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校园地图与地点服务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EE269-39C2-46E1-8F26-0E569752845A}"/>
              </a:ext>
            </a:extLst>
          </p:cNvPr>
          <p:cNvSpPr>
            <a:spLocks noGrp="1"/>
          </p:cNvSpPr>
          <p:nvPr/>
        </p:nvSpPr>
        <p:spPr>
          <a:xfrm>
            <a:off x="1600200" y="290512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地图浏览、地点选择、楼层切换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069348-04F1-4940-A2C4-FD5E49EFF651}"/>
              </a:ext>
            </a:extLst>
          </p:cNvPr>
          <p:cNvSpPr>
            <a:spLocks noGrp="1"/>
          </p:cNvSpPr>
          <p:nvPr/>
        </p:nvSpPr>
        <p:spPr>
          <a:xfrm>
            <a:off x="742950" y="3286125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E9C735-BCB8-499A-A855-652A239BABAA}"/>
              </a:ext>
            </a:extLst>
          </p:cNvPr>
          <p:cNvSpPr>
            <a:spLocks noGrp="1"/>
          </p:cNvSpPr>
          <p:nvPr/>
        </p:nvSpPr>
        <p:spPr>
          <a:xfrm>
            <a:off x="742950" y="357187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0B2112-5A1F-4D7E-A1C3-A8067E689CDB}"/>
              </a:ext>
            </a:extLst>
          </p:cNvPr>
          <p:cNvSpPr>
            <a:spLocks noGrp="1"/>
          </p:cNvSpPr>
          <p:nvPr/>
        </p:nvSpPr>
        <p:spPr>
          <a:xfrm>
            <a:off x="1600200" y="3543300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活动发现与个性化推荐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2CA093-88CB-4CCC-B55A-E4BBBDA54F9B}"/>
              </a:ext>
            </a:extLst>
          </p:cNvPr>
          <p:cNvSpPr>
            <a:spLocks noGrp="1"/>
          </p:cNvSpPr>
          <p:nvPr/>
        </p:nvSpPr>
        <p:spPr>
          <a:xfrm>
            <a:off x="1600200" y="386715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推荐理由、时间、地点、来源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2D6666-1E6D-46C1-94E6-3E08A0FC6854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9647DA-1C40-4978-B588-8DE7646560BA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2B43D6-8829-445D-94D0-44F3F5898563}"/>
              </a:ext>
            </a:extLst>
          </p:cNvPr>
          <p:cNvSpPr>
            <a:spLocks noGrp="1"/>
          </p:cNvSpPr>
          <p:nvPr/>
        </p:nvSpPr>
        <p:spPr>
          <a:xfrm>
            <a:off x="1600200" y="450532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活动日历与我的日程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891A4B-A043-4EEA-BD2C-3E5E2036E2C4}"/>
              </a:ext>
            </a:extLst>
          </p:cNvPr>
          <p:cNvSpPr>
            <a:spLocks noGrp="1"/>
          </p:cNvSpPr>
          <p:nvPr/>
        </p:nvSpPr>
        <p:spPr>
          <a:xfrm>
            <a:off x="1600200" y="482917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按日期浏览、加入日程、提醒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111573-E10E-4C20-827A-7188E69F26AE}"/>
              </a:ext>
            </a:extLst>
          </p:cNvPr>
          <p:cNvSpPr>
            <a:spLocks noGrp="1"/>
          </p:cNvSpPr>
          <p:nvPr/>
        </p:nvSpPr>
        <p:spPr>
          <a:xfrm>
            <a:off x="742950" y="5210175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406D09-E9B2-454F-953D-A246378C65AF}"/>
              </a:ext>
            </a:extLst>
          </p:cNvPr>
          <p:cNvSpPr>
            <a:spLocks noGrp="1"/>
          </p:cNvSpPr>
          <p:nvPr/>
        </p:nvSpPr>
        <p:spPr>
          <a:xfrm>
            <a:off x="742950" y="549592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E3AD9B8-FB22-4BB6-906E-D04CF30F7FA2}"/>
              </a:ext>
            </a:extLst>
          </p:cNvPr>
          <p:cNvSpPr>
            <a:spLocks noGrp="1"/>
          </p:cNvSpPr>
          <p:nvPr/>
        </p:nvSpPr>
        <p:spPr>
          <a:xfrm>
            <a:off x="1600200" y="5467350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兴趣订阅与偏好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74DDEA-711F-4337-B96E-B91193E2E54E}"/>
              </a:ext>
            </a:extLst>
          </p:cNvPr>
          <p:cNvSpPr>
            <a:spLocks noGrp="1"/>
          </p:cNvSpPr>
          <p:nvPr/>
        </p:nvSpPr>
        <p:spPr>
          <a:xfrm>
            <a:off x="1600200" y="579120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兴趣标签、内容筛选、推送偏好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DA3425-89C3-4616-A270-EB3ECB8F7F7A}"/>
              </a:ext>
            </a:extLst>
          </p:cNvPr>
          <p:cNvSpPr>
            <a:spLocks noGrp="1"/>
          </p:cNvSpPr>
          <p:nvPr/>
        </p:nvSpPr>
        <p:spPr>
          <a:xfrm>
            <a:off x="742950" y="6172200"/>
            <a:ext cx="4781550" cy="9525"/>
          </a:xfrm>
          <a:prstGeom prst="rect">
            <a:avLst/>
          </a:prstGeom>
          <a:solidFill>
            <a:srgbClr val="F7F0DF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C4E9CD-684C-4F82-9B7F-9E341D88592B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3ED10B-CE98-4AB2-8626-D0F5E53F314A}"/>
              </a:ext>
            </a:extLst>
          </p:cNvPr>
          <p:cNvSpPr>
            <a:spLocks noGrp="1"/>
          </p:cNvSpPr>
          <p:nvPr/>
        </p:nvSpPr>
        <p:spPr>
          <a:xfrm>
            <a:off x="7315200" y="258127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校园 Agent 查询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C8ECAC-3350-4ADD-B3D4-3EDDD02A8DC6}"/>
              </a:ext>
            </a:extLst>
          </p:cNvPr>
          <p:cNvSpPr>
            <a:spLocks noGrp="1"/>
          </p:cNvSpPr>
          <p:nvPr/>
        </p:nvSpPr>
        <p:spPr>
          <a:xfrm>
            <a:off x="7315200" y="290512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自然语言提问、答案与来源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9E5436-86A0-4780-8AB0-7CB5CAE02E76}"/>
              </a:ext>
            </a:extLst>
          </p:cNvPr>
          <p:cNvSpPr>
            <a:spLocks noGrp="1"/>
          </p:cNvSpPr>
          <p:nvPr/>
        </p:nvSpPr>
        <p:spPr>
          <a:xfrm>
            <a:off x="6457950" y="3286125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797CBD-4425-49EA-863F-320FFB2A5709}"/>
              </a:ext>
            </a:extLst>
          </p:cNvPr>
          <p:cNvSpPr>
            <a:spLocks noGrp="1"/>
          </p:cNvSpPr>
          <p:nvPr/>
        </p:nvSpPr>
        <p:spPr>
          <a:xfrm>
            <a:off x="6457950" y="357187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D8DC29-5D00-4CB0-ACC8-30ABD5EA9256}"/>
              </a:ext>
            </a:extLst>
          </p:cNvPr>
          <p:cNvSpPr>
            <a:spLocks noGrp="1"/>
          </p:cNvSpPr>
          <p:nvPr/>
        </p:nvSpPr>
        <p:spPr>
          <a:xfrm>
            <a:off x="7315200" y="3543300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个人账户与界面偏好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639EC7-FE10-429E-A9E3-D8B9FFC14990}"/>
              </a:ext>
            </a:extLst>
          </p:cNvPr>
          <p:cNvSpPr>
            <a:spLocks noGrp="1"/>
          </p:cNvSpPr>
          <p:nvPr/>
        </p:nvSpPr>
        <p:spPr>
          <a:xfrm>
            <a:off x="7315200" y="386715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资料、主题、通知设置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91FED7-C057-40DC-9684-45A82787A4AB}"/>
              </a:ext>
            </a:extLst>
          </p:cNvPr>
          <p:cNvSpPr>
            <a:spLocks noGrp="1"/>
          </p:cNvSpPr>
          <p:nvPr/>
        </p:nvSpPr>
        <p:spPr>
          <a:xfrm>
            <a:off x="6457950" y="4248150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450038-39B5-4C90-B4AF-692FECF175B1}"/>
              </a:ext>
            </a:extLst>
          </p:cNvPr>
          <p:cNvSpPr>
            <a:spLocks noGrp="1"/>
          </p:cNvSpPr>
          <p:nvPr/>
        </p:nvSpPr>
        <p:spPr>
          <a:xfrm>
            <a:off x="6457950" y="4533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5584905-2DD9-492F-B14B-15E9F74153BB}"/>
              </a:ext>
            </a:extLst>
          </p:cNvPr>
          <p:cNvSpPr>
            <a:spLocks noGrp="1"/>
          </p:cNvSpPr>
          <p:nvPr/>
        </p:nvSpPr>
        <p:spPr>
          <a:xfrm>
            <a:off x="7315200" y="450532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Android </a:t>
            </a:r>
            <a:r>
              <a:rPr sz="1575" b="1" i="0" dirty="0" err="1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系统通知</a:t>
            </a:r>
            <a:endParaRPr sz="1575" b="1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7FBCD0-93B9-4D68-B46C-BC8ADAD8AE27}"/>
              </a:ext>
            </a:extLst>
          </p:cNvPr>
          <p:cNvSpPr>
            <a:spLocks noGrp="1"/>
          </p:cNvSpPr>
          <p:nvPr/>
        </p:nvSpPr>
        <p:spPr>
          <a:xfrm>
            <a:off x="7315200" y="482917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日程、订阅和推荐提醒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1A810C-5078-4DF4-BB09-FBC58E28A74B}"/>
              </a:ext>
            </a:extLst>
          </p:cNvPr>
          <p:cNvSpPr>
            <a:spLocks noGrp="1"/>
          </p:cNvSpPr>
          <p:nvPr/>
        </p:nvSpPr>
        <p:spPr>
          <a:xfrm>
            <a:off x="6457950" y="5210175"/>
            <a:ext cx="4781550" cy="9525"/>
          </a:xfrm>
          <a:prstGeom prst="rect">
            <a:avLst/>
          </a:prstGeom>
          <a:solidFill>
            <a:srgbClr val="F7F0D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69614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692C7589-91F6-414D-B181-76B661B5450E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D2C7B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2C7B5"/>
                </a:solidFill>
                <a:latin typeface="Consolas"/>
                <a:ea typeface="Consolas"/>
                <a:cs typeface="Consolas"/>
              </a:rPr>
              <a:t>06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D9E691-4E3A-4199-BC0A-87110E94757A}"/>
              </a:ext>
            </a:extLst>
          </p:cNvPr>
          <p:cNvSpPr>
            <a:spLocks noGrp="1"/>
          </p:cNvSpPr>
          <p:nvPr/>
        </p:nvSpPr>
        <p:spPr>
          <a:xfrm>
            <a:off x="640364" y="1323975"/>
            <a:ext cx="7239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75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3675" b="1" i="0" dirty="0" err="1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非功能性需求</a:t>
            </a:r>
            <a:endParaRPr sz="3675" b="1" i="0" dirty="0">
              <a:solidFill>
                <a:srgbClr val="FFF8E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FD32F4-4A5A-443E-91C7-ABDA6EFE6A35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10734675" cy="19050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22177E-E45D-4701-903E-1C698C3E8BEC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正确性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1C4831-0FE6-4CED-8AFC-C514802675A1}"/>
              </a:ext>
            </a:extLst>
          </p:cNvPr>
          <p:cNvSpPr>
            <a:spLocks noGrp="1"/>
          </p:cNvSpPr>
          <p:nvPr/>
        </p:nvSpPr>
        <p:spPr>
          <a:xfrm>
            <a:off x="742950" y="29432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来源、时间和原文可查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F0AA50-BC62-4012-A6F1-39D4A1C6A824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728762-5F83-4150-8EFB-DBED78C65F05}"/>
              </a:ext>
            </a:extLst>
          </p:cNvPr>
          <p:cNvSpPr>
            <a:spLocks noGrp="1"/>
          </p:cNvSpPr>
          <p:nvPr/>
        </p:nvSpPr>
        <p:spPr>
          <a:xfrm>
            <a:off x="4410075" y="26098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健壮性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2B8DE-0BD9-43D3-A848-E9D3E9241C4C}"/>
              </a:ext>
            </a:extLst>
          </p:cNvPr>
          <p:cNvSpPr>
            <a:spLocks noGrp="1"/>
          </p:cNvSpPr>
          <p:nvPr/>
        </p:nvSpPr>
        <p:spPr>
          <a:xfrm>
            <a:off x="4410075" y="29432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失败提示、可重试、设置不丢失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BA9D5A-6F7B-417F-9D28-B35D1848ED25}"/>
              </a:ext>
            </a:extLst>
          </p:cNvPr>
          <p:cNvSpPr>
            <a:spLocks noGrp="1"/>
          </p:cNvSpPr>
          <p:nvPr/>
        </p:nvSpPr>
        <p:spPr>
          <a:xfrm>
            <a:off x="4410075" y="329565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5F3FD6-455F-4707-A430-8E55DC383041}"/>
              </a:ext>
            </a:extLst>
          </p:cNvPr>
          <p:cNvSpPr>
            <a:spLocks noGrp="1"/>
          </p:cNvSpPr>
          <p:nvPr/>
        </p:nvSpPr>
        <p:spPr>
          <a:xfrm>
            <a:off x="8077200" y="26098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可靠性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77D32B-E729-4BEE-9D0C-EA55FBECD015}"/>
              </a:ext>
            </a:extLst>
          </p:cNvPr>
          <p:cNvSpPr>
            <a:spLocks noGrp="1"/>
          </p:cNvSpPr>
          <p:nvPr/>
        </p:nvSpPr>
        <p:spPr>
          <a:xfrm>
            <a:off x="8077200" y="29432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成功、失败与重试状态可追踪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3446B9-F8A5-4DFF-B84D-9CA36E44902A}"/>
              </a:ext>
            </a:extLst>
          </p:cNvPr>
          <p:cNvSpPr>
            <a:spLocks noGrp="1"/>
          </p:cNvSpPr>
          <p:nvPr/>
        </p:nvSpPr>
        <p:spPr>
          <a:xfrm>
            <a:off x="8077200" y="329565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C398C4-EF91-42A4-AA81-FB9E1695E058}"/>
              </a:ext>
            </a:extLst>
          </p:cNvPr>
          <p:cNvSpPr>
            <a:spLocks noGrp="1"/>
          </p:cNvSpPr>
          <p:nvPr/>
        </p:nvSpPr>
        <p:spPr>
          <a:xfrm>
            <a:off x="742950" y="34766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性能及效率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DF8016-6085-4EF8-93C6-6E6CAB1E9FD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不少于 5,000 并发活跃用户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3A26A2-3DDA-444C-BE32-DA4BAD0F00DA}"/>
              </a:ext>
            </a:extLst>
          </p:cNvPr>
          <p:cNvSpPr>
            <a:spLocks noGrp="1"/>
          </p:cNvSpPr>
          <p:nvPr/>
        </p:nvSpPr>
        <p:spPr>
          <a:xfrm>
            <a:off x="742950" y="416242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40F4EC-47DD-4D9D-B57B-2D6706B7DD29}"/>
              </a:ext>
            </a:extLst>
          </p:cNvPr>
          <p:cNvSpPr>
            <a:spLocks noGrp="1"/>
          </p:cNvSpPr>
          <p:nvPr/>
        </p:nvSpPr>
        <p:spPr>
          <a:xfrm>
            <a:off x="4410075" y="34766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易用性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4ED4F7-B64F-433D-AB78-841BC42B2CE0}"/>
              </a:ext>
            </a:extLst>
          </p:cNvPr>
          <p:cNvSpPr>
            <a:spLocks noGrp="1"/>
          </p:cNvSpPr>
          <p:nvPr/>
        </p:nvSpPr>
        <p:spPr>
          <a:xfrm>
            <a:off x="4410075" y="381000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入口一致，加载和错误状态清晰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383614-3DAB-4ECB-9B7C-4C3AA512EBE5}"/>
              </a:ext>
            </a:extLst>
          </p:cNvPr>
          <p:cNvSpPr>
            <a:spLocks noGrp="1"/>
          </p:cNvSpPr>
          <p:nvPr/>
        </p:nvSpPr>
        <p:spPr>
          <a:xfrm>
            <a:off x="4410075" y="416242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676D85-69DE-4E2C-B9E1-B93B06140EF9}"/>
              </a:ext>
            </a:extLst>
          </p:cNvPr>
          <p:cNvSpPr>
            <a:spLocks noGrp="1"/>
          </p:cNvSpPr>
          <p:nvPr/>
        </p:nvSpPr>
        <p:spPr>
          <a:xfrm>
            <a:off x="8077200" y="34766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清晰性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19187D-D7DD-4CDB-8106-D492745AEE40}"/>
              </a:ext>
            </a:extLst>
          </p:cNvPr>
          <p:cNvSpPr>
            <a:spLocks noGrp="1"/>
          </p:cNvSpPr>
          <p:nvPr/>
        </p:nvSpPr>
        <p:spPr>
          <a:xfrm>
            <a:off x="8077200" y="381000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区分事实、推断、样例与未知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083B9A-6B95-49D7-8EB1-A6230F5D3A05}"/>
              </a:ext>
            </a:extLst>
          </p:cNvPr>
          <p:cNvSpPr>
            <a:spLocks noGrp="1"/>
          </p:cNvSpPr>
          <p:nvPr/>
        </p:nvSpPr>
        <p:spPr>
          <a:xfrm>
            <a:off x="8077200" y="416242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2ECA80-681C-4A1F-B5DD-8A0853E01FFF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安全性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D047F4-65D5-4578-A574-10DFA468148C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令牌、数据与最小权限保护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0A4C8C-67D8-4513-AABB-3D2EF534B8D2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1D1389-123C-4F67-938B-411A601E5E8A}"/>
              </a:ext>
            </a:extLst>
          </p:cNvPr>
          <p:cNvSpPr>
            <a:spLocks noGrp="1"/>
          </p:cNvSpPr>
          <p:nvPr/>
        </p:nvSpPr>
        <p:spPr>
          <a:xfrm>
            <a:off x="4410075" y="434340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可扩展性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625D75-0C66-43D2-87F2-01CE447228B2}"/>
              </a:ext>
            </a:extLst>
          </p:cNvPr>
          <p:cNvSpPr>
            <a:spLocks noGrp="1"/>
          </p:cNvSpPr>
          <p:nvPr/>
        </p:nvSpPr>
        <p:spPr>
          <a:xfrm>
            <a:off x="4410075" y="46767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模块扩展，长任务不阻塞请求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7C60A7-1FC9-4810-8B81-C3877924A5D6}"/>
              </a:ext>
            </a:extLst>
          </p:cNvPr>
          <p:cNvSpPr>
            <a:spLocks noGrp="1"/>
          </p:cNvSpPr>
          <p:nvPr/>
        </p:nvSpPr>
        <p:spPr>
          <a:xfrm>
            <a:off x="4410075" y="502920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8B6684-52EE-4017-9238-A622EE932239}"/>
              </a:ext>
            </a:extLst>
          </p:cNvPr>
          <p:cNvSpPr>
            <a:spLocks noGrp="1"/>
          </p:cNvSpPr>
          <p:nvPr/>
        </p:nvSpPr>
        <p:spPr>
          <a:xfrm>
            <a:off x="8077200" y="434340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兼容性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3D1B0B-9DD4-45CA-B3DD-60D0C7BED3FA}"/>
              </a:ext>
            </a:extLst>
          </p:cNvPr>
          <p:cNvSpPr>
            <a:spLocks noGrp="1"/>
          </p:cNvSpPr>
          <p:nvPr/>
        </p:nvSpPr>
        <p:spPr>
          <a:xfrm>
            <a:off x="8077200" y="46767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Android/Web 与代表性设备验证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AD8E601-F82C-4B56-AE2A-35794D5F58E0}"/>
              </a:ext>
            </a:extLst>
          </p:cNvPr>
          <p:cNvSpPr>
            <a:spLocks noGrp="1"/>
          </p:cNvSpPr>
          <p:nvPr/>
        </p:nvSpPr>
        <p:spPr>
          <a:xfrm>
            <a:off x="8077200" y="502920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28C63C-1E36-467C-8A9E-69F9286327C9}"/>
              </a:ext>
            </a:extLst>
          </p:cNvPr>
          <p:cNvSpPr>
            <a:spLocks noGrp="1"/>
          </p:cNvSpPr>
          <p:nvPr/>
        </p:nvSpPr>
        <p:spPr>
          <a:xfrm>
            <a:off x="742950" y="52101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可移植性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4D6DAB1-4DAC-4C8C-A7C5-95B109E1B394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核心业务在 Android/Web 复用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456E5F-3846-421A-93E3-BFCDEA6A6678}"/>
              </a:ext>
            </a:extLst>
          </p:cNvPr>
          <p:cNvSpPr>
            <a:spLocks noGrp="1"/>
          </p:cNvSpPr>
          <p:nvPr/>
        </p:nvSpPr>
        <p:spPr>
          <a:xfrm>
            <a:off x="742950" y="589597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C44526-24D2-424F-833B-99ECB0848139}"/>
              </a:ext>
            </a:extLst>
          </p:cNvPr>
          <p:cNvSpPr>
            <a:spLocks noGrp="1"/>
          </p:cNvSpPr>
          <p:nvPr/>
        </p:nvSpPr>
        <p:spPr>
          <a:xfrm>
            <a:off x="4410075" y="52101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可维护性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9019CA-08FD-4753-B1B6-89A234CAF897}"/>
              </a:ext>
            </a:extLst>
          </p:cNvPr>
          <p:cNvSpPr>
            <a:spLocks noGrp="1"/>
          </p:cNvSpPr>
          <p:nvPr/>
        </p:nvSpPr>
        <p:spPr>
          <a:xfrm>
            <a:off x="4410075" y="554355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文档、测试、版本与日志同步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25881DA-D9F9-4475-8B72-F1B4D62F7AD2}"/>
              </a:ext>
            </a:extLst>
          </p:cNvPr>
          <p:cNvSpPr>
            <a:spLocks noGrp="1"/>
          </p:cNvSpPr>
          <p:nvPr/>
        </p:nvSpPr>
        <p:spPr>
          <a:xfrm>
            <a:off x="4410075" y="589597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475F891-B823-4046-85CC-779C575B1BCF}"/>
              </a:ext>
            </a:extLst>
          </p:cNvPr>
          <p:cNvSpPr>
            <a:spLocks noGrp="1"/>
          </p:cNvSpPr>
          <p:nvPr/>
        </p:nvSpPr>
        <p:spPr>
          <a:xfrm>
            <a:off x="8077200" y="52101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可验证性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8E85864-2BE4-4152-A533-A253A10236EF}"/>
              </a:ext>
            </a:extLst>
          </p:cNvPr>
          <p:cNvSpPr>
            <a:spLocks noGrp="1"/>
          </p:cNvSpPr>
          <p:nvPr/>
        </p:nvSpPr>
        <p:spPr>
          <a:xfrm>
            <a:off x="8077200" y="554355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验收、真机、异常与性能测试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C195D8-DD84-4CA4-8462-03F847A85BC3}"/>
              </a:ext>
            </a:extLst>
          </p:cNvPr>
          <p:cNvSpPr>
            <a:spLocks noGrp="1"/>
          </p:cNvSpPr>
          <p:nvPr/>
        </p:nvSpPr>
        <p:spPr>
          <a:xfrm>
            <a:off x="8077200" y="589597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614083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00C14C80-A42B-4E02-8543-F10988E3AA3A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rPr>
              <a:t>07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4345A1-CEB2-42CA-85DB-DB125E158EE6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685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sz="3525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前端技术选型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B05833-BCEF-4DB1-BADF-C9BFC7B8FFC7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10763250" cy="19050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4962DF-FC1E-4A32-B441-9EEE6296449B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9FED0-850F-40F4-B9D6-09892A600CD8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Vue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DF3606-4029-41FB-8C2E-8CDD43B5E31C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组织页面与交互状态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C40A58-52D6-4117-BA85-E06297274ABA}"/>
              </a:ext>
            </a:extLst>
          </p:cNvPr>
          <p:cNvSpPr>
            <a:spLocks noGrp="1"/>
          </p:cNvSpPr>
          <p:nvPr/>
        </p:nvSpPr>
        <p:spPr>
          <a:xfrm>
            <a:off x="6172200" y="236220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12DAF7-6CC6-40FC-9BE0-085AC745C2F0}"/>
              </a:ext>
            </a:extLst>
          </p:cNvPr>
          <p:cNvSpPr>
            <a:spLocks noGrp="1"/>
          </p:cNvSpPr>
          <p:nvPr/>
        </p:nvSpPr>
        <p:spPr>
          <a:xfrm>
            <a:off x="6172200" y="25146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TypeScript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055635-7E3D-4C7C-9D31-78E6D3191AD5}"/>
              </a:ext>
            </a:extLst>
          </p:cNvPr>
          <p:cNvSpPr>
            <a:spLocks noGrp="1"/>
          </p:cNvSpPr>
          <p:nvPr/>
        </p:nvSpPr>
        <p:spPr>
          <a:xfrm>
            <a:off x="6172200" y="28670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提前发现数据字段不一致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0F70EC-49CB-47C1-8E64-AA2D0CFBC391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39FC38-A64A-426E-8941-C8E2A0F113B8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Vite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40E2D3-63CE-4038-B37B-9659910BBB55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启动本地网页并构建发布资源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ED003B-28D2-4D44-9539-1C2DB8278116}"/>
              </a:ext>
            </a:extLst>
          </p:cNvPr>
          <p:cNvSpPr>
            <a:spLocks noGrp="1"/>
          </p:cNvSpPr>
          <p:nvPr/>
        </p:nvSpPr>
        <p:spPr>
          <a:xfrm>
            <a:off x="6172200" y="348615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653F0F-C890-4F3D-A70B-48F853499B1F}"/>
              </a:ext>
            </a:extLst>
          </p:cNvPr>
          <p:cNvSpPr>
            <a:spLocks noGrp="1"/>
          </p:cNvSpPr>
          <p:nvPr/>
        </p:nvSpPr>
        <p:spPr>
          <a:xfrm>
            <a:off x="6172200" y="36385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Vue Router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051B14-10CC-4E89-B21D-8E3380C8DFA3}"/>
              </a:ext>
            </a:extLst>
          </p:cNvPr>
          <p:cNvSpPr>
            <a:spLocks noGrp="1"/>
          </p:cNvSpPr>
          <p:nvPr/>
        </p:nvSpPr>
        <p:spPr>
          <a:xfrm>
            <a:off x="6172200" y="399097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管理页面跳转和路由状态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9D7A82-28EC-48BB-B1DD-15A9CB853D3B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6C7208-79B0-40FD-84F0-B78A3D2DD94D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Canvas 2D + Three.js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2EAC75-47EC-40E0-8AE6-117A9A629B0D}"/>
              </a:ext>
            </a:extLst>
          </p:cNvPr>
          <p:cNvSpPr>
            <a:spLocks noGrp="1"/>
          </p:cNvSpPr>
          <p:nvPr/>
        </p:nvSpPr>
        <p:spPr>
          <a:xfrm>
            <a:off x="781050" y="51149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轻量二维与沉浸式三维地图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949CC1-C936-4E72-95D5-AE0CBD911AB4}"/>
              </a:ext>
            </a:extLst>
          </p:cNvPr>
          <p:cNvSpPr>
            <a:spLocks noGrp="1"/>
          </p:cNvSpPr>
          <p:nvPr/>
        </p:nvSpPr>
        <p:spPr>
          <a:xfrm>
            <a:off x="6172200" y="4610100"/>
            <a:ext cx="628650" cy="2857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7AC7E6-F3BB-4DA3-BA02-F7BA9A935A7D}"/>
              </a:ext>
            </a:extLst>
          </p:cNvPr>
          <p:cNvSpPr>
            <a:spLocks noGrp="1"/>
          </p:cNvSpPr>
          <p:nvPr/>
        </p:nvSpPr>
        <p:spPr>
          <a:xfrm>
            <a:off x="6172200" y="47625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Capacitor（后续）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0E50FB-4FC6-4E9A-A0E1-7B0363C83A64}"/>
              </a:ext>
            </a:extLst>
          </p:cNvPr>
          <p:cNvSpPr>
            <a:spLocks noGrp="1"/>
          </p:cNvSpPr>
          <p:nvPr/>
        </p:nvSpPr>
        <p:spPr>
          <a:xfrm>
            <a:off x="6172200" y="51149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复用前端进入 Android / iOS</a:t>
            </a:r>
          </a:p>
        </p:txBody>
      </p:sp>
    </p:spTree>
    <p:extLst>
      <p:ext uri="{BB962C8B-B14F-4D97-AF65-F5344CB8AC3E}">
        <p14:creationId xmlns:p14="http://schemas.microsoft.com/office/powerpoint/2010/main" val="987870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198B6902-212C-49A2-A9F4-02468D451383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D2C7B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2C7B5"/>
                </a:solidFill>
                <a:latin typeface="Consolas"/>
                <a:ea typeface="Consolas"/>
                <a:cs typeface="Consolas"/>
              </a:rPr>
              <a:t>08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256E6D-CC10-4B9E-90F5-0A304C48442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685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3525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后端技术选型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62E60BE-7150-4113-8B04-8B06A336B20E}"/>
              </a:ext>
            </a:extLst>
          </p:cNvPr>
          <p:cNvSpPr>
            <a:spLocks noGrp="1"/>
          </p:cNvSpPr>
          <p:nvPr/>
        </p:nvSpPr>
        <p:spPr>
          <a:xfrm>
            <a:off x="1611925" y="2686050"/>
            <a:ext cx="400050" cy="400050"/>
          </a:xfrm>
          <a:prstGeom prst="ellipse">
            <a:avLst/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3F592F-4E93-4941-87FE-C55010DD2098}"/>
              </a:ext>
            </a:extLst>
          </p:cNvPr>
          <p:cNvSpPr>
            <a:spLocks noGrp="1"/>
          </p:cNvSpPr>
          <p:nvPr/>
        </p:nvSpPr>
        <p:spPr>
          <a:xfrm>
            <a:off x="1535725" y="31908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 i="0">
                <a:solidFill>
                  <a:srgbClr val="F5B56A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5B56A"/>
                </a:solidFill>
                <a:latin typeface="Consolas"/>
                <a:ea typeface="Consolas"/>
                <a:cs typeface="Consolas"/>
              </a:rPr>
              <a:t>现在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9D8890-1183-4C3F-854E-2E547999F99E}"/>
              </a:ext>
            </a:extLst>
          </p:cNvPr>
          <p:cNvSpPr>
            <a:spLocks noGrp="1"/>
          </p:cNvSpPr>
          <p:nvPr/>
        </p:nvSpPr>
        <p:spPr>
          <a:xfrm>
            <a:off x="1326175" y="3581400"/>
            <a:ext cx="9715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FastAPI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5FAF17-2DA6-4736-8902-B1A0B7D65589}"/>
              </a:ext>
            </a:extLst>
          </p:cNvPr>
          <p:cNvSpPr>
            <a:spLocks noGrp="1"/>
          </p:cNvSpPr>
          <p:nvPr/>
        </p:nvSpPr>
        <p:spPr>
          <a:xfrm>
            <a:off x="1248792" y="4086225"/>
            <a:ext cx="14668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 dirty="0" err="1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提供</a:t>
            </a:r>
            <a:r>
              <a:rPr sz="1125" b="0" i="0" dirty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 HTTP </a:t>
            </a:r>
            <a:r>
              <a:rPr sz="1125" b="0" i="0" dirty="0" err="1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接口</a:t>
            </a:r>
            <a:endParaRPr sz="1125" b="0" i="0" dirty="0">
              <a:solidFill>
                <a:srgbClr val="D6C9B2"/>
              </a:solidFill>
              <a:latin typeface="Noto Sans SC"/>
              <a:ea typeface="Noto Sans SC"/>
              <a:cs typeface="Noto Sans SC"/>
            </a:endParaRPr>
          </a:p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 dirty="0" err="1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当前：GET</a:t>
            </a:r>
            <a:r>
              <a:rPr sz="1125" b="0" i="0" dirty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 /test/hello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1FEF4C-91BB-4255-B140-E49B87AB9912}"/>
              </a:ext>
            </a:extLst>
          </p:cNvPr>
          <p:cNvSpPr>
            <a:spLocks noGrp="1"/>
          </p:cNvSpPr>
          <p:nvPr/>
        </p:nvSpPr>
        <p:spPr>
          <a:xfrm>
            <a:off x="2031025" y="2876550"/>
            <a:ext cx="1619250" cy="19050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2833210-25E3-4F08-B4AD-3D9011496954}"/>
              </a:ext>
            </a:extLst>
          </p:cNvPr>
          <p:cNvSpPr>
            <a:spLocks noGrp="1"/>
          </p:cNvSpPr>
          <p:nvPr/>
        </p:nvSpPr>
        <p:spPr>
          <a:xfrm>
            <a:off x="3755050" y="2686050"/>
            <a:ext cx="400050" cy="400050"/>
          </a:xfrm>
          <a:prstGeom prst="ellipse">
            <a:avLst/>
          </a:prstGeom>
          <a:solidFill>
            <a:srgbClr val="F28C28"/>
          </a:solidFill>
          <a:ln w="9525">
            <a:solidFill>
              <a:srgbClr val="F28C2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82054C-97D1-4838-BA97-47BEE5CFCEAD}"/>
              </a:ext>
            </a:extLst>
          </p:cNvPr>
          <p:cNvSpPr>
            <a:spLocks noGrp="1"/>
          </p:cNvSpPr>
          <p:nvPr/>
        </p:nvSpPr>
        <p:spPr>
          <a:xfrm>
            <a:off x="3678850" y="31908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 i="0">
                <a:solidFill>
                  <a:srgbClr val="F5B56A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5B56A"/>
                </a:solidFill>
                <a:latin typeface="Consolas"/>
                <a:ea typeface="Consolas"/>
                <a:cs typeface="Consolas"/>
              </a:rPr>
              <a:t>现在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2CF324-BDD3-4909-8551-3730FC34AC0E}"/>
              </a:ext>
            </a:extLst>
          </p:cNvPr>
          <p:cNvSpPr>
            <a:spLocks noGrp="1"/>
          </p:cNvSpPr>
          <p:nvPr/>
        </p:nvSpPr>
        <p:spPr>
          <a:xfrm>
            <a:off x="3469299" y="3581400"/>
            <a:ext cx="1131109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dirty="0" err="1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Pydantic</a:t>
            </a:r>
            <a:endParaRPr sz="1500" b="1" i="0" dirty="0">
              <a:solidFill>
                <a:srgbClr val="FFF8E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DC191D-6DF9-4644-8451-A6EB2A0AAD63}"/>
              </a:ext>
            </a:extLst>
          </p:cNvPr>
          <p:cNvSpPr>
            <a:spLocks noGrp="1"/>
          </p:cNvSpPr>
          <p:nvPr/>
        </p:nvSpPr>
        <p:spPr>
          <a:xfrm>
            <a:off x="3221650" y="4248150"/>
            <a:ext cx="14668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校验请求与响应的数据格式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EC9DFC-0DBC-40A0-97BA-A54CC20E1932}"/>
              </a:ext>
            </a:extLst>
          </p:cNvPr>
          <p:cNvSpPr>
            <a:spLocks noGrp="1"/>
          </p:cNvSpPr>
          <p:nvPr/>
        </p:nvSpPr>
        <p:spPr>
          <a:xfrm>
            <a:off x="4174150" y="2876550"/>
            <a:ext cx="1619250" cy="19050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C53A0A3-E703-4AF6-92BD-319F8466C194}"/>
              </a:ext>
            </a:extLst>
          </p:cNvPr>
          <p:cNvSpPr>
            <a:spLocks noGrp="1"/>
          </p:cNvSpPr>
          <p:nvPr/>
        </p:nvSpPr>
        <p:spPr>
          <a:xfrm>
            <a:off x="5898175" y="2686050"/>
            <a:ext cx="400050" cy="400050"/>
          </a:xfrm>
          <a:prstGeom prst="ellipse">
            <a:avLst/>
          </a:prstGeom>
          <a:solidFill>
            <a:srgbClr val="112D3A"/>
          </a:solidFill>
          <a:ln w="9525">
            <a:solidFill>
              <a:srgbClr val="F5B56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2D3893-DAD9-401F-932D-E0F0F2978911}"/>
              </a:ext>
            </a:extLst>
          </p:cNvPr>
          <p:cNvSpPr>
            <a:spLocks noGrp="1"/>
          </p:cNvSpPr>
          <p:nvPr/>
        </p:nvSpPr>
        <p:spPr>
          <a:xfrm>
            <a:off x="5821975" y="31908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 i="0">
                <a:solidFill>
                  <a:srgbClr val="9DA9AE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9DA9AE"/>
                </a:solidFill>
                <a:latin typeface="Consolas"/>
                <a:ea typeface="Consolas"/>
                <a:cs typeface="Consolas"/>
              </a:rPr>
              <a:t>后续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AE7E12-72BB-4135-A633-7B83BCCD0608}"/>
              </a:ext>
            </a:extLst>
          </p:cNvPr>
          <p:cNvSpPr>
            <a:spLocks noGrp="1"/>
          </p:cNvSpPr>
          <p:nvPr/>
        </p:nvSpPr>
        <p:spPr>
          <a:xfrm>
            <a:off x="5612424" y="3581400"/>
            <a:ext cx="1466849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dirty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PostgreSQL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B7FC8B-D256-44DE-AE72-3804AE18611E}"/>
              </a:ext>
            </a:extLst>
          </p:cNvPr>
          <p:cNvSpPr>
            <a:spLocks noGrp="1"/>
          </p:cNvSpPr>
          <p:nvPr/>
        </p:nvSpPr>
        <p:spPr>
          <a:xfrm>
            <a:off x="5612424" y="4181238"/>
            <a:ext cx="14668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 dirty="0" err="1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保存用户、兴趣、信息、活动与地点</a:t>
            </a:r>
            <a:endParaRPr sz="1125" b="0" i="0" dirty="0">
              <a:solidFill>
                <a:srgbClr val="D6C9B2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CFCACA-675F-4A04-8919-41AD9C7D21BE}"/>
              </a:ext>
            </a:extLst>
          </p:cNvPr>
          <p:cNvSpPr>
            <a:spLocks noGrp="1"/>
          </p:cNvSpPr>
          <p:nvPr/>
        </p:nvSpPr>
        <p:spPr>
          <a:xfrm>
            <a:off x="6317275" y="2876550"/>
            <a:ext cx="1619250" cy="19050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A8A9414-52BC-4C57-8356-3ECD98D28DE2}"/>
              </a:ext>
            </a:extLst>
          </p:cNvPr>
          <p:cNvSpPr>
            <a:spLocks noGrp="1"/>
          </p:cNvSpPr>
          <p:nvPr/>
        </p:nvSpPr>
        <p:spPr>
          <a:xfrm>
            <a:off x="8041300" y="2686050"/>
            <a:ext cx="400050" cy="400050"/>
          </a:xfrm>
          <a:prstGeom prst="ellipse">
            <a:avLst/>
          </a:prstGeom>
          <a:solidFill>
            <a:srgbClr val="112D3A"/>
          </a:solidFill>
          <a:ln w="9525">
            <a:solidFill>
              <a:srgbClr val="F5B56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3D70773-E754-4B6D-86D8-FB79597DA8FE}"/>
              </a:ext>
            </a:extLst>
          </p:cNvPr>
          <p:cNvSpPr>
            <a:spLocks noGrp="1"/>
          </p:cNvSpPr>
          <p:nvPr/>
        </p:nvSpPr>
        <p:spPr>
          <a:xfrm>
            <a:off x="7965100" y="31908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 i="0">
                <a:solidFill>
                  <a:srgbClr val="9DA9AE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9DA9AE"/>
                </a:solidFill>
                <a:latin typeface="Consolas"/>
                <a:ea typeface="Consolas"/>
                <a:cs typeface="Consolas"/>
              </a:rPr>
              <a:t>后续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865F30-4BF2-43FD-9047-D347921C8F94}"/>
              </a:ext>
            </a:extLst>
          </p:cNvPr>
          <p:cNvSpPr>
            <a:spLocks noGrp="1"/>
          </p:cNvSpPr>
          <p:nvPr/>
        </p:nvSpPr>
        <p:spPr>
          <a:xfrm>
            <a:off x="7755549" y="3581400"/>
            <a:ext cx="1466849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 dirty="0" err="1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SQLAlchemy</a:t>
            </a:r>
            <a:r>
              <a:rPr sz="1500" b="1" i="0" dirty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 + Alembic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731F07-942C-4A9D-92F6-277C878780C5}"/>
              </a:ext>
            </a:extLst>
          </p:cNvPr>
          <p:cNvSpPr>
            <a:spLocks noGrp="1"/>
          </p:cNvSpPr>
          <p:nvPr/>
        </p:nvSpPr>
        <p:spPr>
          <a:xfrm>
            <a:off x="7755548" y="4200525"/>
            <a:ext cx="14668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 dirty="0" err="1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读写数据库，并记录表结构如何演进</a:t>
            </a:r>
            <a:endParaRPr sz="1125" b="0" i="0" dirty="0">
              <a:solidFill>
                <a:srgbClr val="D6C9B2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336AE0D-EB68-43C8-9D75-F8A468E1763E}"/>
              </a:ext>
            </a:extLst>
          </p:cNvPr>
          <p:cNvSpPr>
            <a:spLocks noGrp="1"/>
          </p:cNvSpPr>
          <p:nvPr/>
        </p:nvSpPr>
        <p:spPr>
          <a:xfrm>
            <a:off x="8460400" y="2876550"/>
            <a:ext cx="1619250" cy="19050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4BE20FE0-A4DE-44C1-9AC6-9E8FB7B84E45}"/>
              </a:ext>
            </a:extLst>
          </p:cNvPr>
          <p:cNvSpPr>
            <a:spLocks noGrp="1"/>
          </p:cNvSpPr>
          <p:nvPr/>
        </p:nvSpPr>
        <p:spPr>
          <a:xfrm>
            <a:off x="10184425" y="2686050"/>
            <a:ext cx="400050" cy="400050"/>
          </a:xfrm>
          <a:prstGeom prst="ellipse">
            <a:avLst/>
          </a:prstGeom>
          <a:solidFill>
            <a:srgbClr val="112D3A"/>
          </a:solidFill>
          <a:ln w="9525">
            <a:solidFill>
              <a:srgbClr val="F5B56A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F93599-688E-4833-AF89-8768E548FBC9}"/>
              </a:ext>
            </a:extLst>
          </p:cNvPr>
          <p:cNvSpPr>
            <a:spLocks noGrp="1"/>
          </p:cNvSpPr>
          <p:nvPr/>
        </p:nvSpPr>
        <p:spPr>
          <a:xfrm>
            <a:off x="10108225" y="3190875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25" b="1" i="0">
                <a:solidFill>
                  <a:srgbClr val="9DA9AE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9DA9AE"/>
                </a:solidFill>
                <a:latin typeface="Consolas"/>
                <a:ea typeface="Consolas"/>
                <a:cs typeface="Consolas"/>
              </a:rPr>
              <a:t>后续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97B5A57-8592-42DB-9E31-A7313FB88C1D}"/>
              </a:ext>
            </a:extLst>
          </p:cNvPr>
          <p:cNvSpPr>
            <a:spLocks noGrp="1"/>
          </p:cNvSpPr>
          <p:nvPr/>
        </p:nvSpPr>
        <p:spPr>
          <a:xfrm>
            <a:off x="9898675" y="3581400"/>
            <a:ext cx="9715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Python Worker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A31201-6F83-422E-87D5-06E38D5B6844}"/>
              </a:ext>
            </a:extLst>
          </p:cNvPr>
          <p:cNvSpPr>
            <a:spLocks noGrp="1"/>
          </p:cNvSpPr>
          <p:nvPr/>
        </p:nvSpPr>
        <p:spPr>
          <a:xfrm>
            <a:off x="9651025" y="4248150"/>
            <a:ext cx="14668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在后台采集、去重、推荐与提醒</a:t>
            </a:r>
          </a:p>
        </p:txBody>
      </p:sp>
    </p:spTree>
    <p:extLst>
      <p:ext uri="{BB962C8B-B14F-4D97-AF65-F5344CB8AC3E}">
        <p14:creationId xmlns:p14="http://schemas.microsoft.com/office/powerpoint/2010/main" val="36930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D2B85D-09F5-4194-994C-D5732DF19D65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103632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sz="4800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团队/项目协作</a:t>
            </a:r>
          </a:p>
        </p:txBody>
      </p:sp>
    </p:spTree>
    <p:extLst>
      <p:ext uri="{BB962C8B-B14F-4D97-AF65-F5344CB8AC3E}">
        <p14:creationId xmlns:p14="http://schemas.microsoft.com/office/powerpoint/2010/main" val="1329907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3B56EB5-9504-403F-A920-2E0E2B7DEA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76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BBFC1-E67F-4D09-A61D-758B964DE9D6}"/>
              </a:ext>
            </a:extLst>
          </p:cNvPr>
          <p:cNvSpPr>
            <a:spLocks noGrp="1"/>
          </p:cNvSpPr>
          <p:nvPr/>
        </p:nvSpPr>
        <p:spPr>
          <a:xfrm>
            <a:off x="4903980" y="2919200"/>
            <a:ext cx="103632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65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8000" b="1" i="0" dirty="0" err="1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谢谢</a:t>
            </a:r>
            <a:endParaRPr sz="8000" b="1" i="0" dirty="0">
              <a:solidFill>
                <a:srgbClr val="FFF8E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D98CCA-A456-4D41-BD9C-89A778E32E8E}"/>
              </a:ext>
            </a:extLst>
          </p:cNvPr>
          <p:cNvSpPr>
            <a:spLocks noGrp="1"/>
          </p:cNvSpPr>
          <p:nvPr/>
        </p:nvSpPr>
        <p:spPr>
          <a:xfrm>
            <a:off x="5353050" y="4314825"/>
            <a:ext cx="148590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19422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655</Words>
  <Application>Microsoft Office PowerPoint</Application>
  <DocSecurity>0</DocSecurity>
  <PresentationFormat>宽屏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Noto Sans SC</vt:lpstr>
      <vt:lpstr>Noto Serif SC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海若 薛</cp:lastModifiedBy>
  <cp:revision>4</cp:revision>
  <dcterms:created xsi:type="dcterms:W3CDTF">2026-10-07T17:33:25Z</dcterms:created>
  <dcterms:modified xsi:type="dcterms:W3CDTF">2026-10-07T18:18:25Z</dcterms:modified>
</cp:coreProperties>
</file>